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3" r:id="rId1"/>
  </p:sldMasterIdLst>
  <p:notesMasterIdLst>
    <p:notesMasterId r:id="rId7"/>
  </p:notesMasterIdLst>
  <p:sldIdLst>
    <p:sldId id="256" r:id="rId2"/>
    <p:sldId id="257" r:id="rId3"/>
    <p:sldId id="265" r:id="rId4"/>
    <p:sldId id="274" r:id="rId5"/>
    <p:sldId id="273" r:id="rId6"/>
  </p:sldIdLst>
  <p:sldSz cx="12192000" cy="6858000"/>
  <p:notesSz cx="6858000" cy="9144000"/>
  <p:embeddedFontLst>
    <p:embeddedFont>
      <p:font typeface="Barlow Condensed" panose="020B0604020202020204" charset="0"/>
      <p:regular r:id="rId8"/>
      <p:bold r:id="rId9"/>
      <p:italic r:id="rId10"/>
      <p:boldItalic r:id="rId11"/>
    </p:embeddedFont>
    <p:embeddedFont>
      <p:font typeface="DM Sans Italics" panose="020B0604020202020204" charset="0"/>
      <p:regular r:id="rId12"/>
    </p:embeddedFont>
    <p:embeddedFont>
      <p:font typeface="PT Sans Narrow" panose="020B0604020202020204" charset="0"/>
      <p:regular r:id="rId13"/>
      <p:bold r:id="rId1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Default Section" id="{038843A1-5125-46D5-AA6A-381816230EB4}">
          <p14:sldIdLst>
            <p14:sldId id="256"/>
          </p14:sldIdLst>
        </p14:section>
        <p14:section name="Untitled Section" id="{B382CB26-F217-4D62-BE76-7916906F5CA4}">
          <p14:sldIdLst>
            <p14:sldId id="257"/>
            <p14:sldId id="265"/>
            <p14:sldId id="274"/>
            <p14:sldId id="27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font" Target="fonts/font5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font" Target="fonts/font7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26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65a5c374d8_0_1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65a5c374d8_0_1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65a5c374d8_0_2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65a5c374d8_0_2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65a5c374d8_0_1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65a5c374d8_0_1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624803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g65a5c374d8_0_5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9" name="Google Shape;479;g65a5c374d8_0_5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/>
          <p:nvPr/>
        </p:nvSpPr>
        <p:spPr>
          <a:xfrm>
            <a:off x="5967050" y="964725"/>
            <a:ext cx="6225300" cy="5893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3080524" y="2533550"/>
            <a:ext cx="5562300" cy="27369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lvl1pPr marL="0" marR="0" lvl="0" indent="0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2pPr>
            <a:lvl3pPr lvl="2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3pPr>
            <a:lvl4pPr lvl="3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4pPr>
            <a:lvl5pPr lvl="4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5pPr>
            <a:lvl6pPr lvl="5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6pPr>
            <a:lvl7pPr lvl="6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7pPr>
            <a:lvl8pPr lvl="7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8pPr>
            <a:lvl9pPr lvl="8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3080524" y="5150800"/>
            <a:ext cx="6838800" cy="1056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11296726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" name="Google Shape;15;p2"/>
          <p:cNvSpPr/>
          <p:nvPr/>
        </p:nvSpPr>
        <p:spPr>
          <a:xfrm>
            <a:off x="11911650" y="4233650"/>
            <a:ext cx="290400" cy="2624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6;p2"/>
          <p:cNvSpPr/>
          <p:nvPr/>
        </p:nvSpPr>
        <p:spPr>
          <a:xfrm>
            <a:off x="0" y="0"/>
            <a:ext cx="290400" cy="2624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"/>
          <p:cNvSpPr/>
          <p:nvPr/>
        </p:nvSpPr>
        <p:spPr>
          <a:xfrm flipH="1">
            <a:off x="14175" y="3083500"/>
            <a:ext cx="9135000" cy="3835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" name="Google Shape;58;p8"/>
          <p:cNvSpPr txBox="1">
            <a:spLocks noGrp="1"/>
          </p:cNvSpPr>
          <p:nvPr>
            <p:ph type="title"/>
          </p:nvPr>
        </p:nvSpPr>
        <p:spPr>
          <a:xfrm>
            <a:off x="1147879" y="753350"/>
            <a:ext cx="6598800" cy="10077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69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69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69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6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6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6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6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69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"/>
          <p:cNvSpPr txBox="1">
            <a:spLocks noGrp="1"/>
          </p:cNvSpPr>
          <p:nvPr>
            <p:ph type="body" idx="1"/>
          </p:nvPr>
        </p:nvSpPr>
        <p:spPr>
          <a:xfrm>
            <a:off x="1147879" y="1865350"/>
            <a:ext cx="6598800" cy="42393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419100">
              <a:spcBef>
                <a:spcPts val="0"/>
              </a:spcBef>
              <a:spcAft>
                <a:spcPts val="0"/>
              </a:spcAft>
              <a:buSzPts val="3000"/>
              <a:buChar char="●"/>
              <a:defRPr/>
            </a:lvl1pPr>
            <a:lvl2pPr marL="914400" lvl="1" indent="-419100">
              <a:spcBef>
                <a:spcPts val="2100"/>
              </a:spcBef>
              <a:spcAft>
                <a:spcPts val="0"/>
              </a:spcAft>
              <a:buSzPts val="3000"/>
              <a:buChar char="○"/>
              <a:defRPr/>
            </a:lvl2pPr>
            <a:lvl3pPr marL="1371600" lvl="2" indent="-419100">
              <a:spcBef>
                <a:spcPts val="2100"/>
              </a:spcBef>
              <a:spcAft>
                <a:spcPts val="0"/>
              </a:spcAft>
              <a:buSzPts val="3000"/>
              <a:buChar char="■"/>
              <a:defRPr/>
            </a:lvl3pPr>
            <a:lvl4pPr marL="1828800" lvl="3" indent="-419100">
              <a:spcBef>
                <a:spcPts val="2100"/>
              </a:spcBef>
              <a:spcAft>
                <a:spcPts val="0"/>
              </a:spcAft>
              <a:buSzPts val="3000"/>
              <a:buChar char="●"/>
              <a:defRPr/>
            </a:lvl4pPr>
            <a:lvl5pPr marL="2286000" lvl="4" indent="-419100">
              <a:spcBef>
                <a:spcPts val="2100"/>
              </a:spcBef>
              <a:spcAft>
                <a:spcPts val="0"/>
              </a:spcAft>
              <a:buSzPts val="3000"/>
              <a:buChar char="○"/>
              <a:defRPr/>
            </a:lvl5pPr>
            <a:lvl6pPr marL="2743200" lvl="5" indent="-419100">
              <a:spcBef>
                <a:spcPts val="2100"/>
              </a:spcBef>
              <a:spcAft>
                <a:spcPts val="0"/>
              </a:spcAft>
              <a:buSzPts val="3000"/>
              <a:buChar char="■"/>
              <a:defRPr/>
            </a:lvl6pPr>
            <a:lvl7pPr marL="3200400" lvl="6" indent="-419100">
              <a:spcBef>
                <a:spcPts val="2100"/>
              </a:spcBef>
              <a:spcAft>
                <a:spcPts val="0"/>
              </a:spcAft>
              <a:buSzPts val="3000"/>
              <a:buChar char="●"/>
              <a:defRPr/>
            </a:lvl7pPr>
            <a:lvl8pPr marL="3657600" lvl="7" indent="-419100">
              <a:spcBef>
                <a:spcPts val="2100"/>
              </a:spcBef>
              <a:spcAft>
                <a:spcPts val="0"/>
              </a:spcAft>
              <a:buSzPts val="3000"/>
              <a:buChar char="○"/>
              <a:defRPr/>
            </a:lvl8pPr>
            <a:lvl9pPr marL="4114800" lvl="8" indent="-419100">
              <a:spcBef>
                <a:spcPts val="2100"/>
              </a:spcBef>
              <a:spcAft>
                <a:spcPts val="2100"/>
              </a:spcAft>
              <a:buSzPts val="3000"/>
              <a:buChar char="■"/>
              <a:defRPr/>
            </a:lvl9pPr>
          </a:lstStyle>
          <a:p>
            <a:endParaRPr/>
          </a:p>
        </p:txBody>
      </p:sp>
      <p:sp>
        <p:nvSpPr>
          <p:cNvPr id="60" name="Google Shape;60;p8"/>
          <p:cNvSpPr txBox="1">
            <a:spLocks noGrp="1"/>
          </p:cNvSpPr>
          <p:nvPr>
            <p:ph type="sldNum" idx="12"/>
          </p:nvPr>
        </p:nvSpPr>
        <p:spPr>
          <a:xfrm>
            <a:off x="11296726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1" name="Google Shape;61;p8"/>
          <p:cNvSpPr/>
          <p:nvPr/>
        </p:nvSpPr>
        <p:spPr>
          <a:xfrm>
            <a:off x="0" y="3083500"/>
            <a:ext cx="290400" cy="3835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62;p8"/>
          <p:cNvSpPr txBox="1"/>
          <p:nvPr/>
        </p:nvSpPr>
        <p:spPr>
          <a:xfrm rot="5400000">
            <a:off x="-679350" y="6173075"/>
            <a:ext cx="1579800" cy="3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SLIDESMANIA.COM</a:t>
            </a:r>
            <a:endParaRPr>
              <a:solidFill>
                <a:srgbClr val="FFFFFF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2"/>
          <p:cNvSpPr txBox="1">
            <a:spLocks noGrp="1"/>
          </p:cNvSpPr>
          <p:nvPr>
            <p:ph type="sldNum" idx="12"/>
          </p:nvPr>
        </p:nvSpPr>
        <p:spPr>
          <a:xfrm>
            <a:off x="11296726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Title">
  <p:cSld name="BLANK_3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4"/>
          <p:cNvSpPr/>
          <p:nvPr/>
        </p:nvSpPr>
        <p:spPr>
          <a:xfrm>
            <a:off x="5967050" y="-75"/>
            <a:ext cx="62253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14"/>
          <p:cNvSpPr/>
          <p:nvPr/>
        </p:nvSpPr>
        <p:spPr>
          <a:xfrm>
            <a:off x="11911650" y="4233650"/>
            <a:ext cx="290400" cy="2624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14"/>
          <p:cNvSpPr/>
          <p:nvPr/>
        </p:nvSpPr>
        <p:spPr>
          <a:xfrm>
            <a:off x="0" y="0"/>
            <a:ext cx="290400" cy="2624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14"/>
          <p:cNvSpPr txBox="1">
            <a:spLocks noGrp="1"/>
          </p:cNvSpPr>
          <p:nvPr>
            <p:ph type="sldNum" idx="12"/>
          </p:nvPr>
        </p:nvSpPr>
        <p:spPr>
          <a:xfrm>
            <a:off x="11296726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3" name="Google Shape;103;p14"/>
          <p:cNvSpPr txBox="1">
            <a:spLocks noGrp="1"/>
          </p:cNvSpPr>
          <p:nvPr>
            <p:ph type="title"/>
          </p:nvPr>
        </p:nvSpPr>
        <p:spPr>
          <a:xfrm>
            <a:off x="2830475" y="1123500"/>
            <a:ext cx="7322700" cy="47361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lvl1pPr marL="0" marR="0" lvl="0" indent="0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5000"/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2800"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2800"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2800"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2800"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2800"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2800"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2800"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15604" y="593367"/>
            <a:ext cx="113610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900"/>
              <a:buFont typeface="PT Sans Narrow"/>
              <a:buNone/>
              <a:defRPr sz="6900" b="1">
                <a:solidFill>
                  <a:schemeClr val="dk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900"/>
              <a:buFont typeface="PT Sans Narrow"/>
              <a:buNone/>
              <a:defRPr sz="6900" b="1">
                <a:solidFill>
                  <a:schemeClr val="dk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900"/>
              <a:buFont typeface="PT Sans Narrow"/>
              <a:buNone/>
              <a:defRPr sz="6900" b="1">
                <a:solidFill>
                  <a:schemeClr val="dk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900"/>
              <a:buFont typeface="PT Sans Narrow"/>
              <a:buNone/>
              <a:defRPr sz="6900" b="1">
                <a:solidFill>
                  <a:schemeClr val="dk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900"/>
              <a:buFont typeface="PT Sans Narrow"/>
              <a:buNone/>
              <a:defRPr sz="6900" b="1">
                <a:solidFill>
                  <a:schemeClr val="dk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900"/>
              <a:buFont typeface="PT Sans Narrow"/>
              <a:buNone/>
              <a:defRPr sz="6900" b="1">
                <a:solidFill>
                  <a:schemeClr val="dk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900"/>
              <a:buFont typeface="PT Sans Narrow"/>
              <a:buNone/>
              <a:defRPr sz="6900" b="1">
                <a:solidFill>
                  <a:schemeClr val="dk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900"/>
              <a:buFont typeface="PT Sans Narrow"/>
              <a:buNone/>
              <a:defRPr sz="6900" b="1">
                <a:solidFill>
                  <a:schemeClr val="dk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900"/>
              <a:buFont typeface="PT Sans Narrow"/>
              <a:buNone/>
              <a:defRPr sz="6900" b="1">
                <a:solidFill>
                  <a:schemeClr val="dk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15604" y="1536633"/>
            <a:ext cx="113610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419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PT Sans Narrow"/>
              <a:buChar char="●"/>
              <a:defRPr sz="3000">
                <a:solidFill>
                  <a:schemeClr val="dk2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marL="914400" lvl="1" indent="-41910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PT Sans Narrow"/>
              <a:buChar char="○"/>
              <a:defRPr sz="3000">
                <a:solidFill>
                  <a:schemeClr val="dk2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marL="1371600" lvl="2" indent="-41910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PT Sans Narrow"/>
              <a:buChar char="■"/>
              <a:defRPr sz="3000">
                <a:solidFill>
                  <a:schemeClr val="dk2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marL="1828800" lvl="3" indent="-41910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PT Sans Narrow"/>
              <a:buChar char="●"/>
              <a:defRPr sz="3000">
                <a:solidFill>
                  <a:schemeClr val="dk2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marL="2286000" lvl="4" indent="-41910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PT Sans Narrow"/>
              <a:buChar char="○"/>
              <a:defRPr sz="3000">
                <a:solidFill>
                  <a:schemeClr val="dk2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marL="2743200" lvl="5" indent="-41910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PT Sans Narrow"/>
              <a:buChar char="■"/>
              <a:defRPr sz="3000">
                <a:solidFill>
                  <a:schemeClr val="dk2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marL="3200400" lvl="6" indent="-41910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PT Sans Narrow"/>
              <a:buChar char="●"/>
              <a:defRPr sz="3000">
                <a:solidFill>
                  <a:schemeClr val="dk2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marL="3657600" lvl="7" indent="-41910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PT Sans Narrow"/>
              <a:buChar char="○"/>
              <a:defRPr sz="3000">
                <a:solidFill>
                  <a:schemeClr val="dk2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marL="4114800" lvl="8" indent="-419100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Clr>
                <a:schemeClr val="dk2"/>
              </a:buClr>
              <a:buSzPts val="3000"/>
              <a:buFont typeface="PT Sans Narrow"/>
              <a:buChar char="■"/>
              <a:defRPr sz="3000">
                <a:solidFill>
                  <a:schemeClr val="dk2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11296726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 algn="r">
              <a:buNone/>
              <a:defRPr sz="1300">
                <a:solidFill>
                  <a:schemeClr val="dk2"/>
                </a:solidFill>
              </a:defRPr>
            </a:lvl1pPr>
            <a:lvl2pPr lvl="1" algn="r">
              <a:buNone/>
              <a:defRPr sz="1300">
                <a:solidFill>
                  <a:schemeClr val="dk2"/>
                </a:solidFill>
              </a:defRPr>
            </a:lvl2pPr>
            <a:lvl3pPr lvl="2" algn="r">
              <a:buNone/>
              <a:defRPr sz="1300">
                <a:solidFill>
                  <a:schemeClr val="dk2"/>
                </a:solidFill>
              </a:defRPr>
            </a:lvl3pPr>
            <a:lvl4pPr lvl="3" algn="r">
              <a:buNone/>
              <a:defRPr sz="1300">
                <a:solidFill>
                  <a:schemeClr val="dk2"/>
                </a:solidFill>
              </a:defRPr>
            </a:lvl4pPr>
            <a:lvl5pPr lvl="4" algn="r">
              <a:buNone/>
              <a:defRPr sz="1300">
                <a:solidFill>
                  <a:schemeClr val="dk2"/>
                </a:solidFill>
              </a:defRPr>
            </a:lvl5pPr>
            <a:lvl6pPr lvl="5" algn="r">
              <a:buNone/>
              <a:defRPr sz="1300">
                <a:solidFill>
                  <a:schemeClr val="dk2"/>
                </a:solidFill>
              </a:defRPr>
            </a:lvl6pPr>
            <a:lvl7pPr lvl="6" algn="r">
              <a:buNone/>
              <a:defRPr sz="1300">
                <a:solidFill>
                  <a:schemeClr val="dk2"/>
                </a:solidFill>
              </a:defRPr>
            </a:lvl7pPr>
            <a:lvl8pPr lvl="7" algn="r">
              <a:buNone/>
              <a:defRPr sz="1300">
                <a:solidFill>
                  <a:schemeClr val="dk2"/>
                </a:solidFill>
              </a:defRPr>
            </a:lvl8pPr>
            <a:lvl9pPr lvl="8" algn="r">
              <a:buNone/>
              <a:defRPr sz="13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" name="Google Shape;9;p1"/>
          <p:cNvSpPr txBox="1"/>
          <p:nvPr/>
        </p:nvSpPr>
        <p:spPr>
          <a:xfrm rot="5400000">
            <a:off x="-679350" y="6173075"/>
            <a:ext cx="1579800" cy="3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SLIDESMANIA.COM</a:t>
            </a:r>
            <a:endParaRPr>
              <a:solidFill>
                <a:schemeClr val="dk1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4" r:id="rId2"/>
    <p:sldLayoutId id="2147483658" r:id="rId3"/>
    <p:sldLayoutId id="2147483660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7"/>
          <p:cNvSpPr txBox="1">
            <a:spLocks noGrp="1"/>
          </p:cNvSpPr>
          <p:nvPr>
            <p:ph type="ctrTitle"/>
          </p:nvPr>
        </p:nvSpPr>
        <p:spPr>
          <a:xfrm>
            <a:off x="2945612" y="1783400"/>
            <a:ext cx="5562300" cy="3232846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lvl="0"/>
            <a:r>
              <a:rPr lang="en-GB" dirty="0"/>
              <a:t>Water Level Indicator</a:t>
            </a:r>
            <a:br>
              <a:rPr lang="en-GB" dirty="0"/>
            </a:br>
            <a:r>
              <a:rPr lang="en-GB" dirty="0"/>
              <a:t>MINI </a:t>
            </a:r>
            <a:br>
              <a:rPr lang="en-GB" dirty="0"/>
            </a:br>
            <a:r>
              <a:rPr lang="en-GB" dirty="0"/>
              <a:t>PROJECT</a:t>
            </a:r>
            <a:endParaRPr dirty="0"/>
          </a:p>
        </p:txBody>
      </p:sp>
      <p:sp>
        <p:nvSpPr>
          <p:cNvPr id="128" name="Google Shape;128;p17"/>
          <p:cNvSpPr txBox="1">
            <a:spLocks noGrp="1"/>
          </p:cNvSpPr>
          <p:nvPr>
            <p:ph type="subTitle" idx="1"/>
          </p:nvPr>
        </p:nvSpPr>
        <p:spPr>
          <a:xfrm>
            <a:off x="2945612" y="4706911"/>
            <a:ext cx="6838800" cy="1139252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-GB" dirty="0"/>
              <a:t>Embedded Systems Design Projects</a:t>
            </a:r>
          </a:p>
          <a:p>
            <a:r>
              <a:rPr lang="en-GB" dirty="0"/>
              <a:t>EEE2301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CC30F14-B5D4-4379-ABBF-AB4148622544}"/>
              </a:ext>
            </a:extLst>
          </p:cNvPr>
          <p:cNvSpPr/>
          <p:nvPr/>
        </p:nvSpPr>
        <p:spPr>
          <a:xfrm>
            <a:off x="512189" y="5966336"/>
            <a:ext cx="6096000" cy="69878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solidFill>
                  <a:srgbClr val="002060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Presented by : </a:t>
            </a:r>
            <a:r>
              <a:rPr lang="en-US" dirty="0" err="1">
                <a:solidFill>
                  <a:srgbClr val="002060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Malindu</a:t>
            </a:r>
            <a:r>
              <a:rPr lang="en-US" dirty="0">
                <a:solidFill>
                  <a:srgbClr val="002060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 Kanishka (23ug1-0015)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002060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                      : </a:t>
            </a:r>
            <a:r>
              <a:rPr lang="en-US" dirty="0" err="1">
                <a:solidFill>
                  <a:srgbClr val="002060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Ransilu</a:t>
            </a:r>
            <a:r>
              <a:rPr lang="en-US" dirty="0">
                <a:solidFill>
                  <a:srgbClr val="002060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 </a:t>
            </a:r>
            <a:r>
              <a:rPr lang="en-US" dirty="0" err="1">
                <a:solidFill>
                  <a:srgbClr val="002060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Samadhith</a:t>
            </a:r>
            <a:r>
              <a:rPr lang="en-US" dirty="0">
                <a:solidFill>
                  <a:srgbClr val="002060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 (23ug1-0117)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4BEA486-7C14-4150-A603-F5E962422C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96146" y="2151089"/>
            <a:ext cx="3444299" cy="274797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8"/>
          <p:cNvSpPr txBox="1">
            <a:spLocks noGrp="1"/>
          </p:cNvSpPr>
          <p:nvPr>
            <p:ph type="title"/>
          </p:nvPr>
        </p:nvSpPr>
        <p:spPr>
          <a:xfrm>
            <a:off x="152275" y="-688683"/>
            <a:ext cx="6408779" cy="2907266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lvl="0"/>
            <a:r>
              <a:rPr lang="en-GB" sz="4400" dirty="0"/>
              <a:t>Water Level Monitoring Problem &amp; </a:t>
            </a:r>
            <a:r>
              <a:rPr lang="en-GB" sz="4400" dirty="0" err="1"/>
              <a:t>SolutionC</a:t>
            </a:r>
            <a:endParaRPr sz="7200" dirty="0"/>
          </a:p>
        </p:txBody>
      </p:sp>
      <p:sp>
        <p:nvSpPr>
          <p:cNvPr id="134" name="Google Shape;134;p18"/>
          <p:cNvSpPr txBox="1">
            <a:spLocks noGrp="1"/>
          </p:cNvSpPr>
          <p:nvPr>
            <p:ph type="body" idx="1"/>
          </p:nvPr>
        </p:nvSpPr>
        <p:spPr>
          <a:xfrm>
            <a:off x="350384" y="3553576"/>
            <a:ext cx="6872648" cy="3441111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38100" indent="0" algn="just">
              <a:buNone/>
            </a:pPr>
            <a:r>
              <a:rPr lang="en-GB" sz="2000" dirty="0"/>
              <a:t>"Our project addresses the critical issue of </a:t>
            </a:r>
            <a:r>
              <a:rPr lang="en-GB" sz="2000" dirty="0" err="1"/>
              <a:t>waterlevel</a:t>
            </a:r>
            <a:r>
              <a:rPr lang="en-GB" sz="2000" dirty="0"/>
              <a:t> management, </a:t>
            </a:r>
          </a:p>
          <a:p>
            <a:pPr marL="38100" indent="0" algn="just">
              <a:buNone/>
            </a:pPr>
            <a:r>
              <a:rPr lang="en-GB" sz="2000" dirty="0"/>
              <a:t>which is essential in various applications such as agriculture, industrial</a:t>
            </a:r>
          </a:p>
          <a:p>
            <a:pPr marL="38100" indent="0" algn="just">
              <a:buNone/>
            </a:pPr>
            <a:r>
              <a:rPr lang="en-GB" sz="2000" dirty="0"/>
              <a:t> tanks, and domestic water systems. Inconsistent or inaccurate monitoring </a:t>
            </a:r>
          </a:p>
          <a:p>
            <a:pPr marL="38100" indent="0" algn="just">
              <a:buNone/>
            </a:pPr>
            <a:r>
              <a:rPr lang="en-GB" sz="2000" dirty="0"/>
              <a:t>can lead to significant water wastage, flooding, or insufficient supply. </a:t>
            </a:r>
          </a:p>
          <a:p>
            <a:pPr marL="38100" indent="0" algn="just">
              <a:buNone/>
            </a:pPr>
            <a:r>
              <a:rPr lang="en-GB" sz="2000" dirty="0"/>
              <a:t>To solve this, we developed a real-time water level indicator system using </a:t>
            </a:r>
          </a:p>
          <a:p>
            <a:pPr marL="38100" indent="0" algn="just">
              <a:buNone/>
            </a:pPr>
            <a:r>
              <a:rPr lang="en-GB" sz="2000" dirty="0"/>
              <a:t>the PIC16F877A microcontroller. This system provides continuous monitoring, accurate measurements, and timely alerts, ensuring efficient water management and preventing potential hazards."</a:t>
            </a:r>
          </a:p>
          <a:p>
            <a:pPr marL="0" lvl="0" indent="0" algn="just" rtl="0">
              <a:spcBef>
                <a:spcPts val="0"/>
              </a:spcBef>
              <a:spcAft>
                <a:spcPts val="2100"/>
              </a:spcAft>
              <a:buNone/>
            </a:pPr>
            <a:r>
              <a:rPr lang="en-GB" sz="1200" dirty="0"/>
              <a:t>. </a:t>
            </a:r>
            <a:endParaRPr sz="1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E710D6B-F594-4965-9EDF-FE584056D62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0998" r="10008" b="48183"/>
          <a:stretch/>
        </p:blipFill>
        <p:spPr>
          <a:xfrm rot="16200000">
            <a:off x="7073077" y="137698"/>
            <a:ext cx="5010728" cy="492256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6"/>
          <p:cNvSpPr txBox="1">
            <a:spLocks noGrp="1"/>
          </p:cNvSpPr>
          <p:nvPr>
            <p:ph type="title"/>
          </p:nvPr>
        </p:nvSpPr>
        <p:spPr>
          <a:xfrm>
            <a:off x="320512" y="1312075"/>
            <a:ext cx="5883003" cy="10077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lvl="0"/>
            <a:r>
              <a:rPr lang="en-GB" dirty="0"/>
              <a:t>Hardware and System Design!</a:t>
            </a:r>
            <a:endParaRPr dirty="0"/>
          </a:p>
        </p:txBody>
      </p:sp>
      <p:sp>
        <p:nvSpPr>
          <p:cNvPr id="185" name="Google Shape;185;p26"/>
          <p:cNvSpPr txBox="1">
            <a:spLocks noGrp="1"/>
          </p:cNvSpPr>
          <p:nvPr>
            <p:ph type="body" idx="1"/>
          </p:nvPr>
        </p:nvSpPr>
        <p:spPr>
          <a:xfrm>
            <a:off x="320512" y="3524907"/>
            <a:ext cx="8387314" cy="4042035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38100" lvl="0" indent="0" algn="just">
              <a:buNone/>
            </a:pPr>
            <a:r>
              <a:rPr lang="en-GB" sz="2000" dirty="0"/>
              <a:t>Key Components:</a:t>
            </a:r>
          </a:p>
          <a:p>
            <a:pPr marL="38100" lvl="0" indent="0" algn="just">
              <a:buNone/>
            </a:pPr>
            <a:endParaRPr lang="en-GB" sz="2000" dirty="0"/>
          </a:p>
          <a:p>
            <a:pPr algn="just"/>
            <a:r>
              <a:rPr lang="en-GB" sz="2000" dirty="0"/>
              <a:t>List critical components (e.g., PIC16F877A, ultrasonic sensor, LCD display, LEDs).</a:t>
            </a:r>
          </a:p>
          <a:p>
            <a:pPr marL="38100" indent="0" algn="just">
              <a:buNone/>
            </a:pPr>
            <a:endParaRPr lang="en-GB" sz="2000" dirty="0"/>
          </a:p>
          <a:p>
            <a:pPr marL="38100" indent="0" algn="just">
              <a:buNone/>
            </a:pPr>
            <a:endParaRPr lang="en-GB" sz="2000" dirty="0"/>
          </a:p>
          <a:p>
            <a:pPr algn="just"/>
            <a:r>
              <a:rPr lang="en-GB" sz="2000" dirty="0"/>
              <a:t>Justify their selection: "The PIC16F877A was chosen for its compatibility and processing capability, ultrasonic sensors for their accuracy."</a:t>
            </a:r>
            <a:endParaRPr sz="2000" dirty="0"/>
          </a:p>
        </p:txBody>
      </p:sp>
      <p:sp>
        <p:nvSpPr>
          <p:cNvPr id="187" name="Google Shape;187;p26"/>
          <p:cNvSpPr/>
          <p:nvPr/>
        </p:nvSpPr>
        <p:spPr>
          <a:xfrm>
            <a:off x="11901725" y="-125"/>
            <a:ext cx="290400" cy="262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0E23F1B-70A3-40BE-A423-06EDED403621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48693" y="122550"/>
            <a:ext cx="6319100" cy="390467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8"/>
          <p:cNvSpPr txBox="1">
            <a:spLocks noGrp="1"/>
          </p:cNvSpPr>
          <p:nvPr>
            <p:ph type="title"/>
          </p:nvPr>
        </p:nvSpPr>
        <p:spPr>
          <a:xfrm>
            <a:off x="755593" y="-943207"/>
            <a:ext cx="6408779" cy="2907266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lvl="0"/>
            <a:r>
              <a:rPr lang="en-GB" sz="4400" dirty="0"/>
              <a:t>Results &amp; Conclusion</a:t>
            </a:r>
            <a:endParaRPr sz="7200" dirty="0"/>
          </a:p>
        </p:txBody>
      </p:sp>
      <p:sp>
        <p:nvSpPr>
          <p:cNvPr id="134" name="Google Shape;134;p18"/>
          <p:cNvSpPr txBox="1">
            <a:spLocks noGrp="1"/>
          </p:cNvSpPr>
          <p:nvPr>
            <p:ph type="body" idx="1"/>
          </p:nvPr>
        </p:nvSpPr>
        <p:spPr>
          <a:xfrm>
            <a:off x="416370" y="3206041"/>
            <a:ext cx="8548521" cy="345871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-GB" sz="2000" dirty="0"/>
              <a:t>Project Outcomes:</a:t>
            </a:r>
          </a:p>
          <a:p>
            <a:pPr marL="38100" indent="0">
              <a:buNone/>
            </a:pPr>
            <a:r>
              <a:rPr lang="en-GB" sz="2000" dirty="0"/>
              <a:t>Summarize the results: "The system accurately monitored water levels, providing real-time feedback and reliable alerts."</a:t>
            </a:r>
          </a:p>
          <a:p>
            <a:r>
              <a:rPr lang="en-GB" sz="2000" dirty="0"/>
              <a:t>Analysis:</a:t>
            </a:r>
          </a:p>
          <a:p>
            <a:pPr marL="38100" indent="0">
              <a:buNone/>
            </a:pPr>
            <a:r>
              <a:rPr lang="en-GB" sz="2000" dirty="0"/>
              <a:t>Discuss any unexpected results or improvements made: "Addressed EMI interference through improved shielding."</a:t>
            </a:r>
          </a:p>
          <a:p>
            <a:r>
              <a:rPr lang="en-GB" sz="2000" dirty="0"/>
              <a:t>Conclusion:</a:t>
            </a:r>
          </a:p>
          <a:p>
            <a:pPr marL="38100" indent="0">
              <a:buNone/>
            </a:pPr>
            <a:r>
              <a:rPr lang="en-GB" sz="2000" dirty="0"/>
              <a:t>Summarize the success and future prospects: "The project successfully met its objectives and provides a foundation for future enhancements in water level monitoring."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44EE89B-A2DD-4288-AE49-7105ACB4A13E}"/>
              </a:ext>
            </a:extLst>
          </p:cNvPr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622" t="31868" b="31919"/>
          <a:stretch/>
        </p:blipFill>
        <p:spPr bwMode="auto">
          <a:xfrm>
            <a:off x="6485640" y="122548"/>
            <a:ext cx="5561815" cy="345871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7163219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34"/>
          <p:cNvSpPr txBox="1">
            <a:spLocks noGrp="1"/>
          </p:cNvSpPr>
          <p:nvPr>
            <p:ph type="title"/>
          </p:nvPr>
        </p:nvSpPr>
        <p:spPr>
          <a:xfrm>
            <a:off x="798475" y="1331075"/>
            <a:ext cx="7322700" cy="47361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THANK YOU!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0174_Manhattan_Template_SlidesMania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EEEEEE"/>
      </a:lt2>
      <a:accent1>
        <a:srgbClr val="F5C91C"/>
      </a:accent1>
      <a:accent2>
        <a:srgbClr val="171717"/>
      </a:accent2>
      <a:accent3>
        <a:srgbClr val="0000FF"/>
      </a:accent3>
      <a:accent4>
        <a:srgbClr val="4A86E8"/>
      </a:accent4>
      <a:accent5>
        <a:srgbClr val="00FFFF"/>
      </a:accent5>
      <a:accent6>
        <a:srgbClr val="00FF00"/>
      </a:accent6>
      <a:hlink>
        <a:srgbClr val="17171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242</Words>
  <Application>Microsoft Office PowerPoint</Application>
  <PresentationFormat>Widescreen</PresentationFormat>
  <Paragraphs>28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PT Sans Narrow</vt:lpstr>
      <vt:lpstr>Arial</vt:lpstr>
      <vt:lpstr>Barlow Condensed</vt:lpstr>
      <vt:lpstr>DM Sans Italics</vt:lpstr>
      <vt:lpstr>0174_Manhattan_Template_SlidesMania</vt:lpstr>
      <vt:lpstr>Water Level Indicator MINI  PROJECT</vt:lpstr>
      <vt:lpstr>Water Level Monitoring Problem &amp; SolutionC</vt:lpstr>
      <vt:lpstr>Hardware and System Design!</vt:lpstr>
      <vt:lpstr>Results &amp; Conclusion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Water Level Indicator MINI  PROJECT</dc:title>
  <dc:creator>MALINDU KANISHKA</dc:creator>
  <cp:lastModifiedBy>User</cp:lastModifiedBy>
  <cp:revision>9</cp:revision>
  <dcterms:modified xsi:type="dcterms:W3CDTF">2024-08-22T06:01:34Z</dcterms:modified>
</cp:coreProperties>
</file>